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5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trictFirstAndLastChars="0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6" d="100"/>
          <a:sy n="76" d="100"/>
        </p:scale>
        <p:origin x="91" y="115"/>
      </p:cViewPr>
      <p:guideLst>
        <p:guide pos="2939" orient="horz"/>
        <p:guide pos="216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981285" name="Google Shape;3;n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7261428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1484189" name="Google Shape;41;p1:notes"/>
          <p:cNvSpPr txBox="1">
            <a:spLocks noGrp="1"/>
          </p:cNvSpPr>
          <p:nvPr>
            <p:ph type="body" idx="1"/>
          </p:nvPr>
        </p:nvSpPr>
        <p:spPr bwMode="auto"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 sz="1100"/>
          </a:p>
        </p:txBody>
      </p:sp>
      <p:sp>
        <p:nvSpPr>
          <p:cNvPr id="1285131810" name="Google Shape;42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6038145" name="Google Shape;70;g2588bb4af59_0_6:notes"/>
          <p:cNvSpPr txBox="1">
            <a:spLocks noGrp="1"/>
          </p:cNvSpPr>
          <p:nvPr>
            <p:ph type="body" idx="1"/>
          </p:nvPr>
        </p:nvSpPr>
        <p:spPr bwMode="auto"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 sz="1100"/>
          </a:p>
        </p:txBody>
      </p:sp>
      <p:sp>
        <p:nvSpPr>
          <p:cNvPr id="433368377" name="Google Shape;71;g2588bb4af59_0_6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8572427" name="Google Shape;70;g2588bb4af59_0_6:notes"/>
          <p:cNvSpPr txBox="1">
            <a:spLocks noGrp="1"/>
          </p:cNvSpPr>
          <p:nvPr>
            <p:ph type="body" idx="1"/>
          </p:nvPr>
        </p:nvSpPr>
        <p:spPr bwMode="auto"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 sz="1100"/>
          </a:p>
        </p:txBody>
      </p:sp>
      <p:sp>
        <p:nvSpPr>
          <p:cNvPr id="1848443330" name="Google Shape;71;g2588bb4af59_0_6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3146157" name="Google Shape;70;g2588bb4af59_0_6:notes"/>
          <p:cNvSpPr txBox="1">
            <a:spLocks noGrp="1"/>
          </p:cNvSpPr>
          <p:nvPr>
            <p:ph type="body" idx="1"/>
          </p:nvPr>
        </p:nvSpPr>
        <p:spPr bwMode="auto"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 sz="1100"/>
          </a:p>
        </p:txBody>
      </p:sp>
      <p:sp>
        <p:nvSpPr>
          <p:cNvPr id="1428022119" name="Google Shape;71;g2588bb4af59_0_6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088373" name="Google Shape;70;g2588bb4af59_0_6:notes"/>
          <p:cNvSpPr txBox="1">
            <a:spLocks noGrp="1"/>
          </p:cNvSpPr>
          <p:nvPr>
            <p:ph type="body" idx="1"/>
          </p:nvPr>
        </p:nvSpPr>
        <p:spPr bwMode="auto"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 sz="1100"/>
          </a:p>
        </p:txBody>
      </p:sp>
      <p:sp>
        <p:nvSpPr>
          <p:cNvPr id="1550744328" name="Google Shape;71;g2588bb4af59_0_6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CA028E-6EDB-DF6B-1B1A-6C6B5E0F54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1E01A4-CCBE-6BB2-337B-BCD7EE056A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C89C91-02C0-0B1C-06E6-2A7074A4301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5574921" name="Google Shape;117;p10:notes"/>
          <p:cNvSpPr txBox="1">
            <a:spLocks noGrp="1"/>
          </p:cNvSpPr>
          <p:nvPr>
            <p:ph type="body" idx="1"/>
          </p:nvPr>
        </p:nvSpPr>
        <p:spPr bwMode="auto"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 sz="1100"/>
          </a:p>
        </p:txBody>
      </p:sp>
      <p:sp>
        <p:nvSpPr>
          <p:cNvPr id="792145260" name="Google Shape;118;p1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Content" preserve="0" showMasterPhAnim="0" showMasterSp="1" type="obj" userDrawn="1">
  <p:cSld name="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8722013" name="Google Shape;13;p12"/>
          <p:cNvSpPr txBox="1">
            <a:spLocks noGrp="1"/>
          </p:cNvSpPr>
          <p:nvPr>
            <p:ph type="title"/>
          </p:nvPr>
        </p:nvSpPr>
        <p:spPr bwMode="auto">
          <a:xfrm>
            <a:off x="3670591" y="1934454"/>
            <a:ext cx="4850817" cy="1000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400" b="0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64525190" name="Google Shape;14;p12"/>
          <p:cNvSpPr txBox="1">
            <a:spLocks noGrp="1"/>
          </p:cNvSpPr>
          <p:nvPr>
            <p:ph type="body" idx="1"/>
          </p:nvPr>
        </p:nvSpPr>
        <p:spPr bwMode="auto">
          <a:xfrm>
            <a:off x="1322908" y="2227490"/>
            <a:ext cx="9546183" cy="17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23490280" name="Google Shape;15;p12"/>
          <p:cNvSpPr txBox="1">
            <a:spLocks noGrp="1"/>
          </p:cNvSpPr>
          <p:nvPr>
            <p:ph type="ftr" idx="11"/>
          </p:nvPr>
        </p:nvSpPr>
        <p:spPr bwMode="auto"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95951574" name="Google Shape;16;p12"/>
          <p:cNvSpPr txBox="1">
            <a:spLocks noGrp="1"/>
          </p:cNvSpPr>
          <p:nvPr>
            <p:ph type="dt" idx="10"/>
          </p:nvPr>
        </p:nvSpPr>
        <p:spPr bwMode="auto"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12850783" name="Google Shape;17;p12"/>
          <p:cNvSpPr txBox="1">
            <a:spLocks noGrp="1"/>
          </p:cNvSpPr>
          <p:nvPr>
            <p:ph type="sldNum" idx="12"/>
          </p:nvPr>
        </p:nvSpPr>
        <p:spPr bwMode="auto">
          <a:xfrm>
            <a:off x="11034279" y="6514910"/>
            <a:ext cx="245109" cy="281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15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38100" marR="0" lvl="1" indent="0" algn="l">
              <a:lnSpc>
                <a:spcPct val="115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38100" marR="0" lvl="2" indent="0" algn="l">
              <a:lnSpc>
                <a:spcPct val="115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38100" marR="0" lvl="3" indent="0" algn="l">
              <a:lnSpc>
                <a:spcPct val="115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38100" marR="0" lvl="4" indent="0" algn="l">
              <a:lnSpc>
                <a:spcPct val="115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38100" marR="0" lvl="5" indent="0" algn="l">
              <a:lnSpc>
                <a:spcPct val="115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8100" marR="0" lvl="6" indent="0" algn="l">
              <a:lnSpc>
                <a:spcPct val="115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8100" marR="0" lvl="7" indent="0" algn="l">
              <a:lnSpc>
                <a:spcPct val="115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38100" marR="0" lvl="8" indent="0" algn="l">
              <a:lnSpc>
                <a:spcPct val="115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0457648" name="Google Shape;19;p13"/>
          <p:cNvSpPr txBox="1">
            <a:spLocks noGrp="1"/>
          </p:cNvSpPr>
          <p:nvPr>
            <p:ph type="title"/>
          </p:nvPr>
        </p:nvSpPr>
        <p:spPr bwMode="auto">
          <a:xfrm>
            <a:off x="3670591" y="1934454"/>
            <a:ext cx="4850817" cy="1000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400" b="0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10473158" name="Google Shape;20;p13"/>
          <p:cNvSpPr txBox="1">
            <a:spLocks noGrp="1"/>
          </p:cNvSpPr>
          <p:nvPr>
            <p:ph type="ftr" idx="11"/>
          </p:nvPr>
        </p:nvSpPr>
        <p:spPr bwMode="auto"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71002154" name="Google Shape;21;p13"/>
          <p:cNvSpPr txBox="1">
            <a:spLocks noGrp="1"/>
          </p:cNvSpPr>
          <p:nvPr>
            <p:ph type="dt" idx="10"/>
          </p:nvPr>
        </p:nvSpPr>
        <p:spPr bwMode="auto"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83217127" name="Google Shape;22;p13"/>
          <p:cNvSpPr txBox="1">
            <a:spLocks noGrp="1"/>
          </p:cNvSpPr>
          <p:nvPr>
            <p:ph type="sldNum" idx="12"/>
          </p:nvPr>
        </p:nvSpPr>
        <p:spPr bwMode="auto">
          <a:xfrm>
            <a:off x="11034279" y="6514910"/>
            <a:ext cx="245109" cy="281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15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38100" marR="0" lvl="1" indent="0" algn="l">
              <a:lnSpc>
                <a:spcPct val="115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38100" marR="0" lvl="2" indent="0" algn="l">
              <a:lnSpc>
                <a:spcPct val="115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38100" marR="0" lvl="3" indent="0" algn="l">
              <a:lnSpc>
                <a:spcPct val="115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38100" marR="0" lvl="4" indent="0" algn="l">
              <a:lnSpc>
                <a:spcPct val="115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38100" marR="0" lvl="5" indent="0" algn="l">
              <a:lnSpc>
                <a:spcPct val="115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8100" marR="0" lvl="6" indent="0" algn="l">
              <a:lnSpc>
                <a:spcPct val="115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8100" marR="0" lvl="7" indent="0" algn="l">
              <a:lnSpc>
                <a:spcPct val="115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38100" marR="0" lvl="8" indent="0" algn="l">
              <a:lnSpc>
                <a:spcPct val="115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65707353" name="Google Shape;6;p11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0" y="0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613254164" name="Google Shape;7;p11"/>
          <p:cNvSpPr txBox="1">
            <a:spLocks noGrp="1"/>
          </p:cNvSpPr>
          <p:nvPr>
            <p:ph type="title"/>
          </p:nvPr>
        </p:nvSpPr>
        <p:spPr bwMode="auto">
          <a:xfrm>
            <a:off x="3670591" y="1934454"/>
            <a:ext cx="4850817" cy="1000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311189202" name="Google Shape;8;p11"/>
          <p:cNvSpPr txBox="1">
            <a:spLocks noGrp="1"/>
          </p:cNvSpPr>
          <p:nvPr>
            <p:ph type="body" idx="1"/>
          </p:nvPr>
        </p:nvSpPr>
        <p:spPr bwMode="auto">
          <a:xfrm>
            <a:off x="1322908" y="2227490"/>
            <a:ext cx="9546183" cy="17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962297610" name="Google Shape;9;p11"/>
          <p:cNvSpPr txBox="1">
            <a:spLocks noGrp="1"/>
          </p:cNvSpPr>
          <p:nvPr>
            <p:ph type="ftr" idx="11"/>
          </p:nvPr>
        </p:nvSpPr>
        <p:spPr bwMode="auto"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362422098" name="Google Shape;10;p11"/>
          <p:cNvSpPr txBox="1">
            <a:spLocks noGrp="1"/>
          </p:cNvSpPr>
          <p:nvPr>
            <p:ph type="dt" idx="10"/>
          </p:nvPr>
        </p:nvSpPr>
        <p:spPr bwMode="auto"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009353861" name="Google Shape;11;p11"/>
          <p:cNvSpPr txBox="1">
            <a:spLocks noGrp="1"/>
          </p:cNvSpPr>
          <p:nvPr>
            <p:ph type="sldNum" idx="12"/>
          </p:nvPr>
        </p:nvSpPr>
        <p:spPr bwMode="auto">
          <a:xfrm>
            <a:off x="11034279" y="6514910"/>
            <a:ext cx="245109" cy="281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 rtl="0">
              <a:lnSpc>
                <a:spcPct val="115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38100" marR="0" lvl="1" indent="0" algn="l" rtl="0">
              <a:lnSpc>
                <a:spcPct val="115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38100" marR="0" lvl="2" indent="0" algn="l" rtl="0">
              <a:lnSpc>
                <a:spcPct val="115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38100" marR="0" lvl="3" indent="0" algn="l" rtl="0">
              <a:lnSpc>
                <a:spcPct val="115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38100" marR="0" lvl="4" indent="0" algn="l" rtl="0">
              <a:lnSpc>
                <a:spcPct val="115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38100" marR="0" lvl="5" indent="0" algn="l" rtl="0">
              <a:lnSpc>
                <a:spcPct val="115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8100" marR="0" lvl="6" indent="0" algn="l" rtl="0">
              <a:lnSpc>
                <a:spcPct val="115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8100" marR="0" lvl="7" indent="0" algn="l" rtl="0">
              <a:lnSpc>
                <a:spcPct val="115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38100" marR="0" lvl="8" indent="0" algn="l" rtl="0">
              <a:lnSpc>
                <a:spcPct val="115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dt="0" ftr="0" hdr="0" sldNum="1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79731967" name="Google Shape;44;p1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0" y="2159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3625209" name="Google Shape;45;p1"/>
          <p:cNvSpPr txBox="1"/>
          <p:nvPr/>
        </p:nvSpPr>
        <p:spPr bwMode="auto">
          <a:xfrm>
            <a:off x="2824084" y="3111059"/>
            <a:ext cx="8217572" cy="98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R="5080" lvl="0" algn="ctr">
              <a:buSzPts val="2400"/>
              <a:defRPr/>
            </a:pPr>
            <a:r>
              <a:rPr lang="en-US" sz="3200">
                <a:solidFill>
                  <a:srgbClr val="FF0000"/>
                </a:solidFill>
                <a:latin typeface="Times New Roman"/>
                <a:cs typeface="Times New Roman"/>
              </a:rPr>
              <a:t>TOPIC : </a:t>
            </a:r>
            <a:r>
              <a:rPr lang="en-US" sz="3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Insertion Sort on Linked List (Decrease-and-Conquer)</a:t>
            </a:r>
            <a:endParaRPr sz="3200" b="1" i="0" u="none" strike="noStrike" cap="none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grpSp>
        <p:nvGrpSpPr>
          <p:cNvPr id="2033681524" name="Google Shape;46;p1"/>
          <p:cNvGrpSpPr/>
          <p:nvPr/>
        </p:nvGrpSpPr>
        <p:grpSpPr bwMode="auto">
          <a:xfrm>
            <a:off x="220205" y="1294727"/>
            <a:ext cx="1708370" cy="5091495"/>
            <a:chOff x="190553" y="1212849"/>
            <a:chExt cx="1813556" cy="5206028"/>
          </a:xfrm>
        </p:grpSpPr>
        <p:pic>
          <p:nvPicPr>
            <p:cNvPr id="47" name="Google Shape;47;p1"/>
            <p:cNvPicPr/>
            <p:nvPr/>
          </p:nvPicPr>
          <p:blipFill rotWithShape="1">
            <a:blip r:embed="rId4">
              <a:alphaModFix/>
            </a:blip>
            <a:stretch/>
          </p:blipFill>
          <p:spPr bwMode="auto">
            <a:xfrm>
              <a:off x="629861" y="1212849"/>
              <a:ext cx="1374247" cy="1066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" name="Google Shape;48;p1"/>
            <p:cNvPicPr/>
            <p:nvPr/>
          </p:nvPicPr>
          <p:blipFill rotWithShape="1">
            <a:blip r:embed="rId5">
              <a:alphaModFix/>
            </a:blip>
            <a:stretch/>
          </p:blipFill>
          <p:spPr bwMode="auto">
            <a:xfrm>
              <a:off x="190553" y="4840809"/>
              <a:ext cx="1098142" cy="157806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99890766" name="Google Shape;50;p1"/>
          <p:cNvSpPr txBox="1"/>
          <p:nvPr/>
        </p:nvSpPr>
        <p:spPr bwMode="auto">
          <a:xfrm>
            <a:off x="10844949" y="6506676"/>
            <a:ext cx="392700" cy="321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5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Times New Roman"/>
                <a:cs typeface="Times New Roman"/>
              </a:rPr>
              <a:t>1</a:t>
            </a:fld>
            <a:endParaRPr sz="1800" b="0" i="0" u="none" strike="noStrike" cap="none">
              <a:solidFill>
                <a:schemeClr val="dk1"/>
              </a:solidFill>
              <a:latin typeface="Times New Roman"/>
              <a:cs typeface="Times New Roman"/>
            </a:endParaRPr>
          </a:p>
        </p:txBody>
      </p:sp>
      <p:sp>
        <p:nvSpPr>
          <p:cNvPr id="1935637726" name="Google Shape;54;p1"/>
          <p:cNvSpPr txBox="1">
            <a:spLocks noGrp="1"/>
          </p:cNvSpPr>
          <p:nvPr>
            <p:ph type="title"/>
          </p:nvPr>
        </p:nvSpPr>
        <p:spPr bwMode="auto">
          <a:xfrm>
            <a:off x="3407178" y="912481"/>
            <a:ext cx="7306218" cy="737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algn="ctr">
              <a:defRPr/>
            </a:pPr>
            <a:r>
              <a:rPr lang="en-US" sz="4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DATA STRUCTURE AND ANALYSIS</a:t>
            </a:r>
            <a:endParaRPr/>
          </a:p>
        </p:txBody>
      </p:sp>
      <p:sp>
        <p:nvSpPr>
          <p:cNvPr id="885624851" name="TextBox 2"/>
          <p:cNvSpPr txBox="1"/>
          <p:nvPr/>
        </p:nvSpPr>
        <p:spPr bwMode="auto">
          <a:xfrm flipH="0" flipV="0">
            <a:off x="4147768" y="5029770"/>
            <a:ext cx="5713871" cy="579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b="1">
                <a:latin typeface="Times New Roman"/>
                <a:cs typeface="Times New Roman"/>
              </a:rPr>
              <a:t>JAYANESHAN K S</a:t>
            </a:r>
            <a:r>
              <a:rPr lang="en-IN" sz="3200" b="1">
                <a:latin typeface="Times New Roman"/>
                <a:cs typeface="Times New Roman"/>
              </a:rPr>
              <a:t>- 24ITR0</a:t>
            </a:r>
            <a:r>
              <a:rPr lang="en-US" sz="3200" b="1">
                <a:latin typeface="Times New Roman"/>
                <a:cs typeface="Times New Roman"/>
              </a:rPr>
              <a:t>52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462325" name="Google Shape;73;g2588bb4af59_0_6"/>
          <p:cNvSpPr txBox="1">
            <a:spLocks noGrp="1"/>
          </p:cNvSpPr>
          <p:nvPr>
            <p:ph type="title"/>
          </p:nvPr>
        </p:nvSpPr>
        <p:spPr bwMode="auto">
          <a:xfrm>
            <a:off x="3933425" y="1038336"/>
            <a:ext cx="5347440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r>
              <a:rPr lang="en-US" sz="3600">
                <a:solidFill>
                  <a:srgbClr val="FF0000"/>
                </a:solidFill>
                <a:latin typeface="Times New Roman"/>
                <a:cs typeface="Times New Roman"/>
              </a:rPr>
              <a:t>PROBLEM STATEMENT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82047757" name="Google Shape;74;g2588bb4af59_0_6"/>
          <p:cNvSpPr txBox="1"/>
          <p:nvPr/>
        </p:nvSpPr>
        <p:spPr bwMode="auto">
          <a:xfrm>
            <a:off x="10937297" y="6514910"/>
            <a:ext cx="300300" cy="321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5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Times New Roman"/>
                <a:cs typeface="Times New Roman"/>
              </a:rPr>
              <a:t>2</a:t>
            </a:fld>
            <a:endParaRPr sz="1800" b="0" i="0" u="none" strike="noStrike" cap="none">
              <a:solidFill>
                <a:schemeClr val="dk1"/>
              </a:solidFill>
              <a:latin typeface="Times New Roman"/>
              <a:cs typeface="Times New Roman"/>
            </a:endParaRPr>
          </a:p>
        </p:txBody>
      </p:sp>
      <p:sp>
        <p:nvSpPr>
          <p:cNvPr id="854509486" name="Rectangle 1"/>
          <p:cNvSpPr/>
          <p:nvPr/>
        </p:nvSpPr>
        <p:spPr bwMode="auto">
          <a:xfrm>
            <a:off x="1598331" y="2156673"/>
            <a:ext cx="10017985" cy="34148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Sorting is a fundamental operation in data structures.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 linked lists, efficient sorting is important due to sequential access.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You are given a singly linked list.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Task: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➢ Sort the linked list using Insertion Sort technique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➢ Maintain sorted order during insertion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➢ Analyze efficiency compared to array-based sorting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146032" name="Google Shape;73;g2588bb4af59_0_6"/>
          <p:cNvSpPr txBox="1">
            <a:spLocks noGrp="1"/>
          </p:cNvSpPr>
          <p:nvPr>
            <p:ph type="title"/>
          </p:nvPr>
        </p:nvSpPr>
        <p:spPr bwMode="auto">
          <a:xfrm>
            <a:off x="4777626" y="1361157"/>
            <a:ext cx="3275062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>
              <a:defRPr/>
            </a:pPr>
            <a:r>
              <a:rPr lang="en-IN" sz="3600">
                <a:solidFill>
                  <a:srgbClr val="FF0000"/>
                </a:solidFill>
                <a:latin typeface="Times New Roman"/>
                <a:cs typeface="Times New Roman"/>
              </a:rPr>
              <a:t>OBJECTIVE</a:t>
            </a:r>
            <a:endParaRPr/>
          </a:p>
        </p:txBody>
      </p:sp>
      <p:sp>
        <p:nvSpPr>
          <p:cNvPr id="1031756293" name="Google Shape;74;g2588bb4af59_0_6"/>
          <p:cNvSpPr txBox="1"/>
          <p:nvPr/>
        </p:nvSpPr>
        <p:spPr bwMode="auto">
          <a:xfrm>
            <a:off x="10937297" y="6514910"/>
            <a:ext cx="300300" cy="321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5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Times New Roman"/>
                <a:cs typeface="Times New Roman"/>
              </a:rPr>
              <a:t>3</a:t>
            </a:fld>
            <a:endParaRPr sz="1800" b="0" i="0" u="none" strike="noStrike" cap="none">
              <a:solidFill>
                <a:schemeClr val="dk1"/>
              </a:solidFill>
              <a:latin typeface="Times New Roman"/>
              <a:cs typeface="Times New Roman"/>
            </a:endParaRPr>
          </a:p>
        </p:txBody>
      </p:sp>
      <p:sp>
        <p:nvSpPr>
          <p:cNvPr id="1464682555" name="Rectangle 6"/>
          <p:cNvSpPr/>
          <p:nvPr/>
        </p:nvSpPr>
        <p:spPr bwMode="auto">
          <a:xfrm>
            <a:off x="2127916" y="2459503"/>
            <a:ext cx="9306566" cy="2714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Bef>
                <a:spcPts val="0"/>
              </a:spcBef>
              <a:spcAft>
                <a:spcPts val="0"/>
              </a:spcAft>
              <a:buClrTx/>
              <a:buFont typeface="Wingdings"/>
              <a:buChar char="v"/>
              <a:defRPr/>
            </a:pPr>
            <a:endParaRPr lang="en-US" sz="2400">
              <a:solidFill>
                <a:schemeClr val="tx1"/>
              </a:solidFill>
              <a:latin typeface="Arial"/>
            </a:endParaRPr>
          </a:p>
          <a:p>
            <a:pPr>
              <a:lnSpc>
                <a:spcPct val="150000"/>
              </a:lnSpc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➢ Implement insertion sort for linked list</a:t>
            </a:r>
            <a:endParaRPr lang="en-US" sz="2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lnSpc>
                <a:spcPct val="150000"/>
              </a:lnSpc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➢ Apply Decrease-and-Conquer strategy</a:t>
            </a:r>
            <a:endParaRPr lang="en-US" sz="2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lnSpc>
                <a:spcPct val="150000"/>
              </a:lnSpc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➢ Compare performance with array insertion sort</a:t>
            </a:r>
            <a:endParaRPr lang="en-US" sz="2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➢ Understand pointer manipulation instead of shifting elements</a:t>
            </a:r>
            <a:r>
              <a:rPr lang="en-US" sz="2400">
                <a:solidFill>
                  <a:schemeClr val="tx1"/>
                </a:solidFill>
                <a:latin typeface="Arial"/>
              </a:rPr>
              <a:t>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4174307" name="Google Shape;73;g2588bb4af59_0_6"/>
          <p:cNvSpPr txBox="1">
            <a:spLocks noGrp="1"/>
          </p:cNvSpPr>
          <p:nvPr>
            <p:ph type="title"/>
          </p:nvPr>
        </p:nvSpPr>
        <p:spPr bwMode="auto">
          <a:xfrm>
            <a:off x="2775901" y="269237"/>
            <a:ext cx="7518027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>
              <a:defRPr/>
            </a:pPr>
            <a:r>
              <a:rPr lang="en-IN" sz="3600">
                <a:solidFill>
                  <a:srgbClr val="FF0000"/>
                </a:solidFill>
                <a:latin typeface="Times New Roman"/>
                <a:cs typeface="Times New Roman"/>
              </a:rPr>
              <a:t>ALGORITHM DESIGN TECHNIQUE</a:t>
            </a:r>
            <a:endParaRPr/>
          </a:p>
        </p:txBody>
      </p:sp>
      <p:sp>
        <p:nvSpPr>
          <p:cNvPr id="535046609" name="Google Shape;74;g2588bb4af59_0_6"/>
          <p:cNvSpPr txBox="1"/>
          <p:nvPr/>
        </p:nvSpPr>
        <p:spPr bwMode="auto">
          <a:xfrm>
            <a:off x="10937297" y="6514910"/>
            <a:ext cx="300300" cy="321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5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Times New Roman"/>
                <a:cs typeface="Times New Roman"/>
              </a:rPr>
              <a:t>4</a:t>
            </a:fld>
            <a:endParaRPr sz="1800" b="0" i="0" u="none" strike="noStrike" cap="none">
              <a:solidFill>
                <a:schemeClr val="dk1"/>
              </a:solidFill>
              <a:latin typeface="Times New Roman"/>
              <a:cs typeface="Times New Roman"/>
            </a:endParaRPr>
          </a:p>
        </p:txBody>
      </p:sp>
      <p:sp>
        <p:nvSpPr>
          <p:cNvPr id="1476845109" name="Google Shape;75;g2588bb4af59_0_6"/>
          <p:cNvSpPr txBox="1"/>
          <p:nvPr/>
        </p:nvSpPr>
        <p:spPr bwMode="auto">
          <a:xfrm>
            <a:off x="2017354" y="2973467"/>
            <a:ext cx="9990426" cy="2668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457200" lvl="0" indent="-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Font typeface="Wingdings"/>
              <a:buChar char="Ø"/>
              <a:defRPr/>
            </a:pPr>
            <a:endParaRPr lang="en-US" sz="2800">
              <a:solidFill>
                <a:schemeClr val="tx1"/>
              </a:solidFill>
              <a:latin typeface="Arial"/>
            </a:endParaRPr>
          </a:p>
        </p:txBody>
      </p:sp>
      <p:sp>
        <p:nvSpPr>
          <p:cNvPr id="801621603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endParaRPr lang="en-US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27097956" name="Rectangle 2"/>
          <p:cNvSpPr/>
          <p:nvPr/>
        </p:nvSpPr>
        <p:spPr bwMode="auto">
          <a:xfrm>
            <a:off x="3916053" y="1027863"/>
            <a:ext cx="6763584" cy="41456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9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Input: Head of linked list</a:t>
            </a:r>
            <a:endParaRPr lang="en-US" sz="19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19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 marL="294893" indent="-294893">
              <a:buAutoNum type="arabicPeriod"/>
              <a:defRPr/>
            </a:pPr>
            <a:r>
              <a:rPr lang="en-US" sz="19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Create a dummy node (sorted list)</a:t>
            </a:r>
            <a:endParaRPr lang="en-US" sz="19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 marL="294893" indent="-294893">
              <a:buAutoNum type="arabicPeriod"/>
              <a:defRPr/>
            </a:pPr>
            <a:r>
              <a:rPr lang="en-US" sz="19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Traverse original list node by node</a:t>
            </a:r>
            <a:endParaRPr lang="en-US" sz="19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 marL="294893" indent="-294893">
              <a:buAutoNum type="arabicPeriod"/>
              <a:defRPr/>
            </a:pPr>
            <a:r>
              <a:rPr lang="en-US" sz="19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 each node:</a:t>
            </a:r>
            <a:endParaRPr lang="en-US" sz="1900" b="1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694943" lvl="1" indent="-294893">
              <a:buAutoNum type="arabicPeriod"/>
              <a:defRPr/>
            </a:pPr>
            <a:r>
              <a:rPr lang="en-US" sz="19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Find correct position in sorted list</a:t>
            </a:r>
            <a:endParaRPr lang="en-US" sz="1900" b="1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694943" lvl="1" indent="-294893">
              <a:buAutoNum type="arabicPeriod"/>
              <a:defRPr/>
            </a:pPr>
            <a:r>
              <a:rPr lang="en-US" sz="19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Insert node in that position</a:t>
            </a:r>
            <a:endParaRPr lang="en-US" sz="19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 marL="294893" indent="-294893">
              <a:buAutoNum type="arabicPeriod"/>
              <a:defRPr/>
            </a:pPr>
            <a:r>
              <a:rPr lang="en-US" sz="19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Move to next node</a:t>
            </a:r>
            <a:endParaRPr lang="en-US" sz="19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 marL="294893" indent="-294893">
              <a:buAutoNum type="arabicPeriod"/>
              <a:defRPr/>
            </a:pPr>
            <a:r>
              <a:rPr lang="en-US" sz="19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Return sorted list</a:t>
            </a:r>
            <a:endParaRPr lang="en-US" sz="19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19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9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Logic:</a:t>
            </a:r>
            <a:endParaRPr lang="en-US" sz="19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 marL="239821" indent="-239821">
              <a:buFont typeface="Arial"/>
              <a:buChar char="•"/>
              <a:defRPr/>
            </a:pPr>
            <a:endParaRPr lang="en-US" sz="19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 marL="294893" indent="-294893">
              <a:buFont typeface="Arial"/>
              <a:buChar char="•"/>
              <a:defRPr/>
            </a:pPr>
            <a:r>
              <a:rPr lang="en-US" sz="19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Build sorted list gradually</a:t>
            </a:r>
            <a:endParaRPr lang="en-US" sz="19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 marL="294893" indent="-294893">
              <a:buFont typeface="Arial"/>
              <a:buChar char="•"/>
              <a:defRPr/>
            </a:pPr>
            <a:r>
              <a:rPr lang="en-US" sz="19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Insert each element in correct place</a:t>
            </a:r>
            <a:endParaRPr lang="en-US" sz="1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8458509" name="Google Shape;73;g2588bb4af59_0_6"/>
          <p:cNvSpPr txBox="1">
            <a:spLocks noGrp="1"/>
          </p:cNvSpPr>
          <p:nvPr>
            <p:ph type="title"/>
          </p:nvPr>
        </p:nvSpPr>
        <p:spPr bwMode="auto">
          <a:xfrm>
            <a:off x="323776" y="193964"/>
            <a:ext cx="7239573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algn="ctr">
              <a:defRPr/>
            </a:pPr>
            <a:r>
              <a:rPr lang="en-US" sz="3600">
                <a:solidFill>
                  <a:srgbClr val="FF0000"/>
                </a:solidFill>
                <a:latin typeface="Times New Roman"/>
                <a:cs typeface="Times New Roman"/>
              </a:rPr>
              <a:t>CODING</a:t>
            </a:r>
            <a:endParaRPr sz="360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77559693" name="Google Shape;74;g2588bb4af59_0_6"/>
          <p:cNvSpPr txBox="1"/>
          <p:nvPr/>
        </p:nvSpPr>
        <p:spPr bwMode="auto">
          <a:xfrm>
            <a:off x="10937297" y="6514910"/>
            <a:ext cx="300300" cy="321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5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Times New Roman"/>
                <a:cs typeface="Times New Roman"/>
              </a:rPr>
              <a:t>6</a:t>
            </a:fld>
            <a:endParaRPr sz="1800" b="0" i="0" u="none" strike="noStrike" cap="none">
              <a:solidFill>
                <a:schemeClr val="dk1"/>
              </a:solidFill>
              <a:latin typeface="Times New Roman"/>
              <a:cs typeface="Times New Roman"/>
            </a:endParaRPr>
          </a:p>
        </p:txBody>
      </p:sp>
      <p:sp>
        <p:nvSpPr>
          <p:cNvPr id="652885974" name="Rectangle 2"/>
          <p:cNvSpPr/>
          <p:nvPr/>
        </p:nvSpPr>
        <p:spPr bwMode="auto">
          <a:xfrm>
            <a:off x="1514037" y="1274083"/>
            <a:ext cx="5132192" cy="5212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class ListNode {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int val;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ListNode next;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ListNode(int val) {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this.val = val;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this.next = null;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}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}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public class </a:t>
            </a:r>
            <a:r>
              <a:rPr lang="en-US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Main</a:t>
            </a: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{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public static ListNode insertionSortList(ListNode head) {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if (head == null) return null;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// Dummy node to simplify insertion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ListNode dummy = new ListNode(0);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ListNode curr = head;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while (curr != null) {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    ListNode prev = dummy;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    // Find correct position in sorted part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    while (prev.next != null &amp;&amp; prev.next.val &lt; curr.val) {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        prev = prev.next;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    }</a:t>
            </a:r>
            <a:endParaRPr lang="en-IN" b="1">
              <a:latin typeface="Times New Roman"/>
              <a:cs typeface="Times New Roman"/>
            </a:endParaRPr>
          </a:p>
        </p:txBody>
      </p:sp>
      <p:sp>
        <p:nvSpPr>
          <p:cNvPr id="535251461" name="TextBox 1"/>
          <p:cNvSpPr txBox="1"/>
          <p:nvPr/>
        </p:nvSpPr>
        <p:spPr bwMode="auto">
          <a:xfrm flipH="0" flipV="0">
            <a:off x="6636510" y="193963"/>
            <a:ext cx="4938506" cy="6492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  // Save next node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    ListNode nextTemp = curr.next;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    // Insert current node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    curr.next = prev.next;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    prev.next = curr;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    // Move to next node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    curr = nextTemp;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}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return dummy.next;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}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// Helper function to print list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public static void printList(ListNode head) {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while (head != null) {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    System.out.print(head.val + " -&gt; ");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    head = head.next;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}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System.out.println("null");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}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public static void main(String[] args) {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// Example: 4 -&gt; 2 -&gt; 1 -&gt; 3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ListNode head = new ListNode(4);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head.next = new ListNode(2);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head.next.next = new ListNode(1);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head.next.next.next = new ListNode(3);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head = insertionSortList(head);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printList(head);  // Output: 1 -&gt; 2 -&gt; 3 -&gt; 4 -&gt; null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}</a:t>
            </a:r>
            <a:endParaRPr lang="en-IN" sz="14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}</a:t>
            </a:r>
            <a:endParaRPr lang="en-IN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8423761" name="Title 1"/>
          <p:cNvSpPr>
            <a:spLocks noGrp="1"/>
          </p:cNvSpPr>
          <p:nvPr>
            <p:ph type="title"/>
          </p:nvPr>
        </p:nvSpPr>
        <p:spPr bwMode="auto">
          <a:xfrm>
            <a:off x="3911751" y="369581"/>
            <a:ext cx="4850817" cy="553998"/>
          </a:xfrm>
        </p:spPr>
        <p:txBody>
          <a:bodyPr/>
          <a:lstStyle/>
          <a:p>
            <a:pPr>
              <a:defRPr/>
            </a:pPr>
            <a:r>
              <a:rPr lang="en-US" sz="3600">
                <a:solidFill>
                  <a:srgbClr val="FF0000"/>
                </a:solidFill>
                <a:latin typeface="Times New Roman"/>
                <a:cs typeface="Times New Roman"/>
              </a:rPr>
              <a:t>CODING OUTPUT</a:t>
            </a:r>
            <a:endParaRPr/>
          </a:p>
        </p:txBody>
      </p:sp>
      <p:sp>
        <p:nvSpPr>
          <p:cNvPr id="1579997100" name="Slide Number Placeholder 2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7</a:t>
            </a:fld>
            <a:endParaRPr lang="en-US"/>
          </a:p>
        </p:txBody>
      </p:sp>
      <p:pic>
        <p:nvPicPr>
          <p:cNvPr id="34416940" name="Picture 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045428" y="1129487"/>
            <a:ext cx="8988851" cy="5179515"/>
          </a:xfrm>
          <a:prstGeom prst="rect">
            <a:avLst/>
          </a:prstGeom>
        </p:spPr>
      </p:pic>
      <p:pic>
        <p:nvPicPr>
          <p:cNvPr id="27504423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044741" y="1079355"/>
            <a:ext cx="10584836" cy="53854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050165" name="Title 1"/>
          <p:cNvSpPr>
            <a:spLocks noGrp="1"/>
          </p:cNvSpPr>
          <p:nvPr>
            <p:ph type="title"/>
          </p:nvPr>
        </p:nvSpPr>
        <p:spPr bwMode="auto">
          <a:xfrm>
            <a:off x="2459915" y="1237783"/>
            <a:ext cx="7731700" cy="729356"/>
          </a:xfrm>
        </p:spPr>
        <p:txBody>
          <a:bodyPr/>
          <a:lstStyle/>
          <a:p>
            <a:pPr algn="ctr">
              <a:defRPr/>
            </a:pPr>
            <a:r>
              <a:rPr lang="en-US" sz="3600">
                <a:solidFill>
                  <a:srgbClr val="FF0000"/>
                </a:solidFill>
                <a:latin typeface="Times New Roman"/>
                <a:cs typeface="Times New Roman"/>
              </a:rPr>
              <a:t>TIME COMPLEXITY DERIVATION</a:t>
            </a:r>
            <a:endParaRPr/>
          </a:p>
        </p:txBody>
      </p:sp>
      <p:sp>
        <p:nvSpPr>
          <p:cNvPr id="197375031" name="Slide Number Placeholder 3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8</a:t>
            </a:fld>
            <a:endParaRPr lang="en-US"/>
          </a:p>
        </p:txBody>
      </p:sp>
      <p:sp>
        <p:nvSpPr>
          <p:cNvPr id="1735614202" name="Rectangle 1"/>
          <p:cNvSpPr>
            <a:spLocks noChangeArrowheads="1"/>
          </p:cNvSpPr>
          <p:nvPr/>
        </p:nvSpPr>
        <p:spPr bwMode="auto">
          <a:xfrm>
            <a:off x="0" y="-156928"/>
            <a:ext cx="65" cy="313856"/>
          </a:xfrm>
          <a:prstGeom prst="rect">
            <a:avLst/>
          </a:prstGeom>
          <a:solidFill>
            <a:srgbClr val="151517"/>
          </a:solidFill>
          <a:ln>
            <a:noFill/>
          </a:ln>
          <a:effectLst/>
        </p:spPr>
        <p:txBody>
          <a:bodyPr vert="horz" wrap="none" lIns="0" tIns="36501" rIns="0" bIns="0" numCol="1" anchor="ctr" anchorCtr="0" compatLnSpc="1">
            <a:prstTxWarp prst="textNoShape"/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624399202" name="Rectangle 5"/>
          <p:cNvSpPr/>
          <p:nvPr/>
        </p:nvSpPr>
        <p:spPr bwMode="auto">
          <a:xfrm>
            <a:off x="3557115" y="2687554"/>
            <a:ext cx="9073834" cy="34792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sz="20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Let n = number of nodes</a:t>
            </a:r>
            <a:endParaRPr lang="en-IN" sz="20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lang="en-IN" sz="20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20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➢ For each node, we may traverse the sorted list</a:t>
            </a:r>
            <a:endParaRPr lang="en-IN" sz="20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20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➢ Inner traversal → up to n steps</a:t>
            </a:r>
            <a:endParaRPr lang="en-IN" sz="20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lang="en-IN" sz="20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20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operations:</a:t>
            </a:r>
            <a:endParaRPr lang="en-IN" sz="20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20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T(n) = n × n</a:t>
            </a:r>
            <a:endParaRPr lang="en-IN" sz="20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lang="en-IN" sz="20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20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Final Complexity:</a:t>
            </a:r>
            <a:endParaRPr lang="en-IN" sz="20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20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➢ Time Complexity: O(n²)</a:t>
            </a:r>
            <a:endParaRPr lang="en-IN" sz="20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N" sz="20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➢ Space Complexity: O(1)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8848210" name="Title 1"/>
          <p:cNvSpPr>
            <a:spLocks noGrp="1"/>
          </p:cNvSpPr>
          <p:nvPr>
            <p:ph type="title"/>
          </p:nvPr>
        </p:nvSpPr>
        <p:spPr bwMode="auto">
          <a:xfrm>
            <a:off x="4751245" y="819505"/>
            <a:ext cx="3021155" cy="553998"/>
          </a:xfrm>
        </p:spPr>
        <p:txBody>
          <a:bodyPr/>
          <a:lstStyle/>
          <a:p>
            <a:pPr>
              <a:defRPr/>
            </a:pPr>
            <a:r>
              <a:rPr lang="en-US" sz="3600">
                <a:solidFill>
                  <a:srgbClr val="FF0000"/>
                </a:solidFill>
                <a:latin typeface="Times New Roman"/>
                <a:cs typeface="Times New Roman"/>
              </a:rPr>
              <a:t>CONCLUSION</a:t>
            </a:r>
            <a:endParaRPr/>
          </a:p>
        </p:txBody>
      </p:sp>
      <p:sp>
        <p:nvSpPr>
          <p:cNvPr id="292580446" name="Slide Number Placeholder 3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10</a:t>
            </a:fld>
            <a:endParaRPr lang="en-US"/>
          </a:p>
        </p:txBody>
      </p:sp>
      <p:sp>
        <p:nvSpPr>
          <p:cNvPr id="499695448" name="Rectangle 4"/>
          <p:cNvSpPr/>
          <p:nvPr/>
        </p:nvSpPr>
        <p:spPr bwMode="auto">
          <a:xfrm>
            <a:off x="1704109" y="1768923"/>
            <a:ext cx="9865515" cy="36081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➢ Insertion sort works efficiently for linked lists</a:t>
            </a:r>
            <a:endParaRPr lang="en-US" sz="2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➢ No shifting required (only pointer changes)</a:t>
            </a:r>
            <a:endParaRPr lang="en-US" sz="2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➢ Follows Decrease-and-Conquer approach</a:t>
            </a:r>
            <a:endParaRPr lang="en-US" sz="2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➢ Suitable for small datasets</a:t>
            </a:r>
            <a:endParaRPr lang="en-US" sz="2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Advantages:</a:t>
            </a:r>
            <a:endParaRPr lang="en-US" sz="2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Better memory usage</a:t>
            </a:r>
            <a:endParaRPr lang="en-US" sz="2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Easy implementation</a:t>
            </a:r>
            <a:endParaRPr lang="en-US" sz="2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349965" lvl="0" indent="-34996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Efficient insertion operations</a:t>
            </a:r>
            <a:endParaRPr/>
          </a:p>
        </p:txBody>
      </p:sp>
      <p:sp>
        <p:nvSpPr>
          <p:cNvPr id="561981173" name="TextBox 7"/>
          <p:cNvSpPr txBox="1"/>
          <p:nvPr/>
        </p:nvSpPr>
        <p:spPr bwMode="auto">
          <a:xfrm>
            <a:off x="2454309" y="4506872"/>
            <a:ext cx="6115501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44622" name="Google Shape;120;p10"/>
          <p:cNvSpPr txBox="1">
            <a:spLocks noGrp="1"/>
          </p:cNvSpPr>
          <p:nvPr>
            <p:ph type="title"/>
          </p:nvPr>
        </p:nvSpPr>
        <p:spPr bwMode="auto">
          <a:xfrm>
            <a:off x="1664849" y="2841110"/>
            <a:ext cx="8862300" cy="997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065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r>
              <a:rPr lang="en-US">
                <a:solidFill>
                  <a:srgbClr val="FF0000"/>
                </a:solidFill>
                <a:latin typeface="Times New Roman"/>
                <a:cs typeface="Times New Roman"/>
              </a:rPr>
              <a:t>THANK YOU</a:t>
            </a:r>
            <a:endParaRPr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1726010453" name="Google Shape;121;p10"/>
          <p:cNvSpPr txBox="1">
            <a:spLocks noGrp="1"/>
          </p:cNvSpPr>
          <p:nvPr>
            <p:ph type="sldNum" idx="12"/>
          </p:nvPr>
        </p:nvSpPr>
        <p:spPr bwMode="auto">
          <a:xfrm>
            <a:off x="10713466" y="6514900"/>
            <a:ext cx="566100" cy="321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5999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pPr>
            <a:fld id="{00000000-1234-1234-1234-123412341234}" type="slidenum">
              <a:rPr lang="en-US">
                <a:latin typeface="Times New Roman"/>
                <a:cs typeface="Times New Roman"/>
              </a:rPr>
              <a:t>11</a:t>
            </a:fld>
            <a:endParaRPr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IoT_Project_Template[1]</Template>
  <TotalTime>0</TotalTime>
  <Words>0</Words>
  <Application>ONLYOFFICE/9.2.1.43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IoT-Based Smart Shoes for Visually Impaired People </dc:title>
  <dc:creator>Ajay Vikram</dc:creator>
  <cp:lastModifiedBy/>
  <cp:revision>36</cp:revision>
  <dcterms:created xsi:type="dcterms:W3CDTF">2026-02-08T09:44:27Z</dcterms:created>
  <dcterms:modified xsi:type="dcterms:W3CDTF">2026-04-20T09:21:44Z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ICV">
    <vt:lpwstr>CCA21B7555E24D3FB40348EB3CE2AD24</vt:lpwstr>
  </property>
  <property fmtid="{D5CDD505-2E9C-101B-9397-08002B2CF9AE}" pid="4" name="KSOProductBuildVer">
    <vt:lpwstr>1033-11.2.0.11440</vt:lpwstr>
  </property>
</Properties>
</file>